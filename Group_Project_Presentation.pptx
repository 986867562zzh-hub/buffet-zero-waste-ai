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0" y="914400"/>
            <a:ext cx="2103120" cy="21031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0"/>
            </a:pPr>
            <a:r>
              <a:t>🍽️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AI-Powered Zero-Waste Buffet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5A5A6"/>
                </a:solidFill>
              </a:defRPr>
            </a:pPr>
            <a:r>
              <a:t>Smart Tourism Operations &amp; Management — Group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  张正浩  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  Member 2  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  Member 3  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  Member 4  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  Member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Problem: Buffet Food Waste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A $1 trillion global problem in the hospitality industry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6B6B"/>
                </a:solidFill>
              </a:defRPr>
            </a:pPr>
            <a:r>
              <a:t>🌍 Global Scale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1.3 billion tons of food wasted annually</a:t>
            </a:r>
            <a:br/>
            <a:r>
              <a:t>• Buffet restaurants waste 2× more than à la carte</a:t>
            </a:r>
            <a:br/>
            <a:r>
              <a:t>• 30-40% of buffet food goes uneaten</a:t>
            </a:r>
            <a:br/>
            <a:r>
              <a:t>• Hotel buffets generate ~200kg waste/day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6B6B"/>
                </a:solidFill>
              </a:defRPr>
            </a:pPr>
            <a:r>
              <a:t>👤 Consumer Behavior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'Eyes bigger than stomach' syndrome</a:t>
            </a:r>
            <a:br/>
            <a:r>
              <a:t>• Taking too much to 'get value for money'</a:t>
            </a:r>
            <a:br/>
            <a:r>
              <a:t>• No real-time feedback on over-consumption</a:t>
            </a:r>
            <a:br/>
            <a:r>
              <a:t>• Plate waste ends up in landfills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6B6B"/>
                </a:solidFill>
              </a:defRPr>
            </a:pPr>
            <a:r>
              <a:t>🏨 Hotel Pain Point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Over-preparation: cooking for worst case</a:t>
            </a:r>
            <a:br/>
            <a:r>
              <a:t>• Leftover buffet dishes hard to re-sell</a:t>
            </a:r>
            <a:br/>
            <a:r>
              <a:t>• High food cost + waste disposal cost</a:t>
            </a:r>
            <a:br/>
            <a:r>
              <a:t>• Sustainability pressure from guests &amp; regulators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How can AI help reduce food waste while improving the dining experience?</a:t>
            </a:r>
          </a:p>
          <a:p>
            <a:pPr algn="ctr">
              <a:defRPr sz="1600">
                <a:solidFill>
                  <a:srgbClr val="95A5A6"/>
                </a:solidFill>
              </a:defRPr>
            </a:pPr>
            <a:r>
              <a:t>A small, specific problem — with a smart, AI-powered solution.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Target Users &amp;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Integrated resort buffet restaurant — Macau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6B6B"/>
                </a:solidFill>
              </a:defRPr>
            </a:pPr>
            <a:r>
              <a:t>🍽️ Primary User: Diner (Consumer)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Tourist or business traveler at hotel buffet</a:t>
            </a:r>
            <a:br/>
            <a:r>
              <a:t>• Wants to enjoy variety but tends to over-take</a:t>
            </a:r>
            <a:br/>
            <a:r>
              <a:t>• Unaware of cumulative calorie intake</a:t>
            </a:r>
            <a:br/>
            <a:r>
              <a:t>• Motivated by discounts &amp; gentle nudges</a:t>
            </a:r>
            <a:br/>
            <a:br/>
            <a:r>
              <a:t>Pain point: No real-time feedback on how much they've taken</a:t>
            </a:r>
            <a:br/>
            <a:r>
              <a:t>Value: AI-powered awareness + economic incentive (discounts)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53035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6B6B"/>
                </a:solidFill>
              </a:defRPr>
            </a:pPr>
            <a:r>
              <a:t>👨‍🍳 Secondary User: Hotel F&amp;B Staff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Buffet manager / kitchen supervisor</a:t>
            </a:r>
            <a:br/>
            <a:r>
              <a:t>• Needs to know which leftover dishes are available</a:t>
            </a:r>
            <a:br/>
            <a:r>
              <a:t>• Wants to sell surplus food at discount</a:t>
            </a:r>
            <a:br/>
            <a:r>
              <a:t>• Under pressure to meet sustainability targets</a:t>
            </a:r>
            <a:br/>
            <a:br/>
            <a:r>
              <a:t>Pain point: Manual inventory of leftover food is slow &amp; inaccurate</a:t>
            </a:r>
            <a:br/>
            <a:r>
              <a:t>Value: AI identification → smart meal combos → secondary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400" b="0">
                <a:solidFill>
                  <a:srgbClr val="95A5A6"/>
                </a:solidFill>
              </a:defRPr>
            </a:pPr>
            <a:r>
              <a:t>Scenario: A typical dinner buffet at a Macau integrated resort | 200+ diners | 6 buffet stations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Our Solution: 3 AI-Powered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Prevention + Management + Reuse = Zero Waste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6B6B"/>
                </a:solidFill>
              </a:defRPr>
            </a:pPr>
            <a:r>
              <a:t>🔥 Function 1</a:t>
            </a:r>
            <a:br/>
            <a:r>
              <a:t>Calorie Tracker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📸 Take photo of food on plate</a:t>
            </a:r>
            <a:br/>
            <a:r>
              <a:t>🤖 AI identifies dishes + calories</a:t>
            </a:r>
            <a:br/>
            <a:r>
              <a:t>📊 Accumulates across multiple trips</a:t>
            </a:r>
            <a:br/>
            <a:r>
              <a:t>🐉 Cute reminder at 1800 kcal threshold</a:t>
            </a:r>
            <a:br/>
            <a:br/>
            <a:r>
              <a:t>Value: Prevents over-taking</a:t>
            </a:r>
            <a:br/>
            <a:r>
              <a:t>before it happens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6304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🍽️ Function 2</a:t>
            </a:r>
            <a:br/>
            <a:r>
              <a:t>Waste Scorer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📸 Photograph plate after eating</a:t>
            </a:r>
            <a:br/>
            <a:r>
              <a:t>🤖 AI detects leftover food amount</a:t>
            </a:r>
            <a:br/>
            <a:r>
              <a:t>📊 Score: 0-100 (higher = less waste)</a:t>
            </a:r>
            <a:br/>
            <a:r>
              <a:t>💰 85% discount for 'Clean Plate Hero'</a:t>
            </a:r>
            <a:br/>
            <a:br/>
            <a:r>
              <a:t>Value: Economic incentive</a:t>
            </a:r>
            <a:br/>
            <a:r>
              <a:t>to reduce plate waste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6304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3498DB"/>
                </a:solidFill>
              </a:defRPr>
            </a:pPr>
            <a:r>
              <a:t>🥘 Function 3</a:t>
            </a:r>
            <a:br/>
            <a:r>
              <a:t>Leftover Matcher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📸 Staff photographs buffet stations</a:t>
            </a:r>
            <a:br/>
            <a:r>
              <a:t>🤖 AI identifies all remaining dishes</a:t>
            </a:r>
            <a:br/>
            <a:r>
              <a:t>👤 Diner selects dietary preference</a:t>
            </a:r>
            <a:br/>
            <a:r>
              <a:t>🎯 AI recommends 3 meal combos</a:t>
            </a:r>
            <a:br/>
            <a:br/>
            <a:r>
              <a:t>Value: Leftovers get</a:t>
            </a:r>
            <a:br/>
            <a:r>
              <a:t>a second life at discount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400" b="0">
                <a:solidFill>
                  <a:srgbClr val="95A5A6"/>
                </a:solidFill>
              </a:defRPr>
            </a:pPr>
            <a:r>
              <a:t>All three functions share the same AI engine — a closed-set matching system trained on 12 reference dishes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Measurable impact for diners, hotels, and the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💰 For the Diner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Up to 15% discount on meals</a:t>
            </a:r>
            <a:br/>
            <a:r>
              <a:t>• Real-time calorie awareness</a:t>
            </a:r>
            <a:br/>
            <a:r>
              <a:t>• Gentle, friendly reminders</a:t>
            </a:r>
            <a:br/>
            <a:r>
              <a:t>• Personalized meal recommendations</a:t>
            </a:r>
            <a:br/>
            <a:r>
              <a:t>• Better dining experience overall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6304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3498DB"/>
                </a:solidFill>
              </a:defRPr>
            </a:pPr>
            <a:r>
              <a:t>🏨 For the Hotel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30% reduction in food waste</a:t>
            </a:r>
            <a:br/>
            <a:r>
              <a:t>• Lower food cost &amp; disposal fees</a:t>
            </a:r>
            <a:br/>
            <a:r>
              <a:t>• Revenue from leftover meal combos</a:t>
            </a:r>
            <a:br/>
            <a:r>
              <a:t>• Sustainability KPI improvement</a:t>
            </a:r>
            <a:br/>
            <a:r>
              <a:t>• Enhanced brand image for ESG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6304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8E44AD"/>
                </a:solidFill>
              </a:defRPr>
            </a:pPr>
            <a:r>
              <a:t>🌍 For the Planet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Less food in landfills</a:t>
            </a:r>
            <a:br/>
            <a:r>
              <a:t>• Reduced methane emissions</a:t>
            </a:r>
            <a:br/>
            <a:r>
              <a:t>• Lower carbon footprint per meal</a:t>
            </a:r>
            <a:br/>
            <a:r>
              <a:t>• Aligned with UN SDG 12.3</a:t>
            </a:r>
            <a:br/>
            <a:r>
              <a:t>  (halve food waste by 2030)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4572000"/>
            <a:ext cx="1828800" cy="1371600"/>
          </a:xfrm>
          <a:prstGeom prst="round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FFA502"/>
                </a:solidFill>
              </a:defRPr>
            </a:pPr>
            <a:r>
              <a:t>-30%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Food Waste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572000"/>
            <a:ext cx="1828800" cy="1371600"/>
          </a:xfrm>
          <a:prstGeom prst="round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FFA502"/>
                </a:solidFill>
              </a:defRPr>
            </a:pPr>
            <a:r>
              <a:t>85%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Max Discount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572000"/>
            <a:ext cx="1828800" cy="1371600"/>
          </a:xfrm>
          <a:prstGeom prst="round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FFA502"/>
                </a:solidFill>
              </a:defRPr>
            </a:pPr>
            <a:r>
              <a:t>12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Dish Library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572000"/>
            <a:ext cx="1828800" cy="1371600"/>
          </a:xfrm>
          <a:prstGeom prst="round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FFA502"/>
                </a:solidFill>
              </a:defRPr>
            </a:pPr>
            <a:r>
              <a:t>1800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Cal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How It Works: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Multi-layer engine: DeepSeek → Perceptual Hash → PIL Fallback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01168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800" b="1">
                <a:solidFill>
                  <a:srgbClr val="FF6B6B"/>
                </a:solidFill>
              </a:defRPr>
            </a:pPr>
            <a:r>
              <a:t>📸 User Photo</a:t>
            </a:r>
          </a:p>
          <a:p>
            <a:pPr algn="ctr">
              <a:defRPr sz="1300">
                <a:solidFill>
                  <a:srgbClr val="2D3436"/>
                </a:solidFill>
              </a:defRPr>
            </a:pPr>
            <a:r>
              <a:t>Mobile upload</a:t>
            </a:r>
            <a:br/>
            <a:r>
              <a:t>via web app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14600" y="2560320"/>
            <a:ext cx="201168" cy="20116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1645920"/>
            <a:ext cx="201168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800" b="1">
                <a:solidFill>
                  <a:srgbClr val="FFA502"/>
                </a:solidFill>
              </a:defRPr>
            </a:pPr>
            <a:r>
              <a:t>🔀 AI Router</a:t>
            </a:r>
          </a:p>
          <a:p>
            <a:pPr algn="ctr">
              <a:defRPr sz="1300">
                <a:solidFill>
                  <a:srgbClr val="2D3436"/>
                </a:solidFill>
              </a:defRPr>
            </a:pPr>
            <a:r>
              <a:t>Auto-selects</a:t>
            </a:r>
            <a:br/>
            <a:r>
              <a:t>best engine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00600" y="2560320"/>
            <a:ext cx="201168" cy="20116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1645920"/>
            <a:ext cx="201168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800" b="1">
                <a:solidFill>
                  <a:srgbClr val="27AE60"/>
                </a:solidFill>
              </a:defRPr>
            </a:pPr>
            <a:r>
              <a:t>🤖 DeepSeek Vision</a:t>
            </a:r>
          </a:p>
          <a:p>
            <a:pPr algn="ctr">
              <a:defRPr sz="1300">
                <a:solidFill>
                  <a:srgbClr val="2D3436"/>
                </a:solidFill>
              </a:defRPr>
            </a:pPr>
            <a:r>
              <a:t>Primary: API call</a:t>
            </a:r>
            <a:br/>
            <a:r>
              <a:t>High accuracy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600" y="2560320"/>
            <a:ext cx="201168" cy="20116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201168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800" b="1">
                <a:solidFill>
                  <a:srgbClr val="3498DB"/>
                </a:solidFill>
              </a:defRPr>
            </a:pPr>
            <a:r>
              <a:t>🔍 Perceptual Hash</a:t>
            </a:r>
          </a:p>
          <a:p>
            <a:pPr algn="ctr">
              <a:defRPr sz="1300">
                <a:solidFill>
                  <a:srgbClr val="2D3436"/>
                </a:solidFill>
              </a:defRPr>
            </a:pPr>
            <a:r>
              <a:t>Fallback: 8×8 fingerprint</a:t>
            </a:r>
            <a:br/>
            <a:r>
              <a:t>Zero cost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72600" y="2560320"/>
            <a:ext cx="201168" cy="20116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0" y="1645920"/>
            <a:ext cx="201168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800" b="1">
                <a:solidFill>
                  <a:srgbClr val="95A5A6"/>
                </a:solidFill>
              </a:defRPr>
            </a:pPr>
            <a:r>
              <a:t>🎨 PIL Analysis</a:t>
            </a:r>
          </a:p>
          <a:p>
            <a:pPr algn="ctr">
              <a:defRPr sz="1300">
                <a:solidFill>
                  <a:srgbClr val="2D3436"/>
                </a:solidFill>
              </a:defRPr>
            </a:pPr>
            <a:r>
              <a:t>Last resort: Color</a:t>
            </a:r>
            <a:br/>
            <a:r>
              <a:t>Honest but basic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6B6B"/>
                </a:solidFill>
              </a:defRPr>
            </a:pPr>
            <a:r>
              <a:t>→ Output: { dish_name, calories, confidence_level }  — Always honest, always evidence-based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5303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✅ Advantages of Multi-Layer Design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Works with or without API key  • No internet? Still works (hash + PIL)  • Never makes up fake dishes  • Graceful degradation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5303520"/>
            <a:ext cx="5303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3498DB"/>
                </a:solidFill>
              </a:defRPr>
            </a:pPr>
            <a:r>
              <a:t>🛠️ Tech Stack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Python Flask • DeepSeek Chat API • Anthropic Claude (backup) • PIL/Pillow • Perceptual Hash (custom) • Bootstrap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Engine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Three layers, each with a specific job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89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6B6B"/>
                </a:solidFill>
              </a:defRPr>
            </a:pPr>
            <a:r>
              <a:t>🤖 DeepSeek Vision API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Sends photo as base64 + structured prompt</a:t>
            </a:r>
            <a:br/>
            <a:r>
              <a:t>• Returns JSON: dish name, category, calories, confidence</a:t>
            </a:r>
            <a:br/>
            <a:r>
              <a:t>• Model: deepseek-chat (OpenAI-compatible)</a:t>
            </a:r>
            <a:br/>
            <a:r>
              <a:t>• Config: temperature=0.1, max_tokens=2000</a:t>
            </a:r>
            <a:br/>
            <a:r>
              <a:t>• Pros: Very accurate, understands Chinese dishes</a:t>
            </a:r>
            <a:br/>
            <a:r>
              <a:t>• Cons: Costs ~$0.001 per API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89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3498DB"/>
                </a:solidFill>
              </a:defRPr>
            </a:pPr>
            <a:r>
              <a:t>🔍 Perceptual Hash Matcher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Custom algorithm — zero external dependencies</a:t>
            </a:r>
            <a:br/>
            <a:r>
              <a:t>• 8×8 grayscale fingerprint + Hamming distance</a:t>
            </a:r>
            <a:br/>
            <a:r>
              <a:t>• Also: color histogram (30%) + edge texture (10%)</a:t>
            </a:r>
            <a:br/>
            <a:r>
              <a:t>• Weighted scoring: 60% hash + 30% color + 10% edge</a:t>
            </a:r>
            <a:br/>
            <a:r>
              <a:t>• Threshold: 55% minimum similarity</a:t>
            </a:r>
            <a:br/>
            <a:r>
              <a:t>• Pros: Free, offline, always available</a:t>
            </a:r>
            <a:br/>
            <a:r>
              <a:t>• Cons: Less accurate than AI, needs reference images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789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95A5A6"/>
                </a:solidFill>
              </a:defRPr>
            </a:pPr>
            <a:r>
              <a:t>🎨 PIL Color Analysis (Fallback)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Traditional image processing — no AI, no API</a:t>
            </a:r>
            <a:br/>
            <a:r>
              <a:t>• HSV color space: red-brown→meat, green→vegetables</a:t>
            </a:r>
            <a:br/>
            <a:r>
              <a:t>• 10 color-to-food mapping rules</a:t>
            </a:r>
            <a:br/>
            <a:r>
              <a:t>• Detects plate coverage ratio</a:t>
            </a:r>
            <a:br/>
            <a:r>
              <a:t>• Pros: Always works, zero cost, honest</a:t>
            </a:r>
            <a:br/>
            <a:r>
              <a:t>• Cons: Low precision, can't identify specific dishes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Function 1+2: Calorie Tracker &amp; Waste Scorer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Before-meal prevention + After-meal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6B6B"/>
                </a:solidFill>
              </a:defRPr>
            </a:pPr>
            <a:r>
              <a:t>🔥 Calorie Tracker (Before Meal)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User takes photo of food ON the plate</a:t>
            </a:r>
            <a:br/>
            <a:r>
              <a:t>• AI identifies each dish → estimates calories</a:t>
            </a:r>
            <a:br/>
            <a:r>
              <a:t>• Calories accumulate across multiple buffet trips</a:t>
            </a:r>
            <a:br/>
            <a:r>
              <a:t>• Progress ring shows: X / 1800 kcal</a:t>
            </a:r>
            <a:br/>
            <a:r>
              <a:t>• At threshold: cute character pops up with friendly reminder</a:t>
            </a:r>
            <a:br/>
            <a:r>
              <a:t>• Behavioral design: gentle nudge, not strict dieting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🍽️ Waste Scorer (After Meal)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User takes photo of plate AFTER eating</a:t>
            </a:r>
            <a:br/>
            <a:r>
              <a:t>• AI detects leftover food amount &amp; type</a:t>
            </a:r>
            <a:br/>
            <a:r>
              <a:t>• Weighted scoring (meat waste = 1.5× worse than vegetables)</a:t>
            </a:r>
            <a:br/>
            <a:r>
              <a:t>• Score 95+ = 'Clean Plate Hero' = 15% discount</a:t>
            </a:r>
            <a:br/>
            <a:r>
              <a:t>• Score &lt;30 = warning message</a:t>
            </a:r>
            <a:br/>
            <a:r>
              <a:t>• Economic incentive to finish your food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5303520" cy="2743200"/>
          </a:xfrm>
          <a:prstGeom prst="rect">
            <a:avLst/>
          </a:prstGeom>
          <a:solidFill>
            <a:srgbClr val="F0F0F0"/>
          </a:solidFill>
          <a:ln w="25400">
            <a:solidFill>
              <a:srgbClr val="FF6B6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>
                <a:solidFill>
                  <a:srgbClr val="95A5A6"/>
                </a:solidFill>
              </a:defRPr>
            </a:pPr>
            <a:r>
              <a:t>📸 [Screenshot: Calorie Tracker UI]</a:t>
            </a:r>
            <a:br/>
            <a:br/>
            <a:r>
              <a:t>Open https://buffet-zero-waste-ai.onrender.com/product1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3566160"/>
            <a:ext cx="5303520" cy="2743200"/>
          </a:xfrm>
          <a:prstGeom prst="rect">
            <a:avLst/>
          </a:prstGeom>
          <a:solidFill>
            <a:srgbClr val="F0F0F0"/>
          </a:solidFill>
          <a:ln w="25400">
            <a:solidFill>
              <a:srgbClr val="27AE6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>
                <a:solidFill>
                  <a:srgbClr val="95A5A6"/>
                </a:solidFill>
              </a:defRPr>
            </a:pPr>
            <a:r>
              <a:t>📸 [Screenshot: Waste Scorer UI]</a:t>
            </a:r>
            <a:br/>
            <a:br/>
            <a:r>
              <a:t>Open https://buffet-zero-waste-ai.onrender.com/product1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Evidence: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Actual DeepSeek API prompt, parameters, and input-output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6217920" cy="4754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100">
                <a:solidFill>
                  <a:srgbClr val="FFA502"/>
                </a:solidFill>
                <a:latin typeface="Consolas"/>
              </a:defRPr>
            </a:pPr>
            <a:r>
              <a:t># System Prompt (DeepSeek Vision)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messages = [{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  "role": "user",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  "content": [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      {"type": "text", "text":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          "You are a professional food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           recognition assistant. This photo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           shows a diner's plate at a buffet.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           Identify remaining food items and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           estimate amounts. Return pure JSON."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      },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      {"type": "image_url",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       "image_url": {"url": "data:image/...}}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  ]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}]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27AE60"/>
                </a:solidFill>
                <a:latin typeface="Consolas"/>
              </a:defRPr>
            </a:pPr>
            <a:r>
              <a:t># Output Requirement: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{"plate_status": "empty|light|moderate|...",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"overall_waste_percentage": number,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"items": [{"name": "dish name",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 "category": "meat|seafood|vegetable|...",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 "estimated_remaining_percentage": number}]}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FF6B6B"/>
                </a:solidFill>
                <a:latin typeface="Consolas"/>
              </a:defRPr>
            </a:pPr>
            <a:r>
              <a:t># Key: "Only list foods you ACTUALLY SEE. Be honest."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371600"/>
            <a:ext cx="4572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3498DB"/>
                </a:solidFill>
              </a:defRPr>
            </a:pPr>
            <a:r>
              <a:t>⚙️ API Configuration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Model: deepseek-chat</a:t>
            </a:r>
            <a:br/>
            <a:r>
              <a:t>Base URL: api.deepseek.com</a:t>
            </a:r>
            <a:br/>
            <a:r>
              <a:t>Interface: OpenAI-compatible SDK</a:t>
            </a:r>
            <a:br/>
            <a:r>
              <a:t>Temperature: 0.1 (consistent, not creative)</a:t>
            </a:r>
            <a:br/>
            <a:r>
              <a:t>Max Tokens: 2,000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474720"/>
            <a:ext cx="45720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📸 Input → Output Example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INPUT: Photo of Guo Bao Rou (锅包肉)</a:t>
            </a:r>
            <a:br/>
            <a:r>
              <a:t>  → Golden crispy pork slices on white plate</a:t>
            </a:r>
            <a:br/>
            <a:br/>
            <a:r>
              <a:t>OUTPUT (JSON):</a:t>
            </a:r>
            <a:br/>
            <a:r>
              <a:t>{</a:t>
            </a:r>
            <a:br/>
            <a:r>
              <a:t>  "plate_status": "full",</a:t>
            </a:r>
            <a:br/>
            <a:r>
              <a:t>  "items": [{</a:t>
            </a:r>
            <a:br/>
            <a:r>
              <a:t>    "name": "锅包肉",</a:t>
            </a:r>
            <a:br/>
            <a:r>
              <a:t>    "category": "肉类",</a:t>
            </a:r>
            <a:br/>
            <a:r>
              <a:t>    "estimated_remaining_percentage": 85</a:t>
            </a:r>
            <a:br/>
            <a:r>
              <a:t>  }],</a:t>
            </a:r>
            <a:br/>
            <a:r>
              <a:t>  "summary": "盘中主要是锅包肉，约剩余85%"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Evidence: Code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Key code snippets from the actual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2560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050">
                <a:solidFill>
                  <a:srgbClr val="FFA502"/>
                </a:solidFill>
                <a:latin typeface="Consolas"/>
              </a:defRPr>
            </a:pPr>
            <a:r>
              <a:t># DeepSeekVision Class (app.py line 793)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class DeepSeekVision: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def __init__(self):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    self.api_key = os.environ.get("DEEPSEEK_API_KEY")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    from openai import OpenAI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    self.client = OpenAI(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        api_key=self.api_key,</a:t>
            </a:r>
          </a:p>
          <a:p>
            <a:pPr>
              <a:defRPr sz="1050">
                <a:solidFill>
                  <a:srgbClr val="27AE60"/>
                </a:solidFill>
                <a:latin typeface="Consolas"/>
              </a:defRPr>
            </a:pPr>
            <a:r>
              <a:t>            base_url="https://api.deepseek.com"  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    )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def analyze_plate_waste(self, image_path):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    img_b64 = base64.b64encode(...)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    resp = self.client.chat.completions.create(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        model="deepseek-chat",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        messages=[{...image + prompt...}],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        max_tokens=2000, temperature=0.1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    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486400" cy="2560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050">
                <a:solidFill>
                  <a:srgbClr val="FFA502"/>
                </a:solidFill>
                <a:latin typeface="Consolas"/>
              </a:defRPr>
            </a:pPr>
            <a:r>
              <a:t># Perceptual Hash Algorithm (app.py line 1132)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def _compute_ahash(img):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gray = img.convert('L').resize((8, 8))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pixels = list(gray.getdata())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avg = sum(pixels) / 64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return ''.join(              </a:t>
            </a:r>
          </a:p>
          <a:p>
            <a:pPr>
              <a:defRPr sz="1050">
                <a:solidFill>
                  <a:srgbClr val="27AE60"/>
                </a:solidFill>
                <a:latin typeface="Consolas"/>
              </a:defRPr>
            </a:pPr>
            <a:r>
              <a:t>        '1' if p &gt; avg else '0'  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    for p in pixels)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def _hamming_distance(h1, h2):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return sum(c1 != c2             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        for c1, c2 in zip(h1, h2))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# Similarity = 1.0 - distance/64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# Higher = more likely same dish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6B6B"/>
                </a:solidFill>
              </a:defRPr>
            </a:pPr>
            <a:r>
              <a:t>📸 Input: Photo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User uploads a plate photo</a:t>
            </a:r>
            <a:br/>
            <a:r>
              <a:t>→ Guo Bao Rou (锅包肉)</a:t>
            </a:r>
            <a:br/>
            <a:r>
              <a:t>→ Golden crispy pork slices</a:t>
            </a:r>
            <a:br/>
            <a:r>
              <a:t>→ On a white round plate</a:t>
            </a:r>
            <a:br/>
            <a:br/>
            <a:r>
              <a:t>[Photo sent as base64 to API]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42062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3498DB"/>
                </a:solidFill>
              </a:defRPr>
            </a:pPr>
            <a:r>
              <a:t>🤖 AI Processing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Engine tries in order:</a:t>
            </a:r>
            <a:br/>
            <a:r>
              <a:t>1. DeepSeek Vision API</a:t>
            </a:r>
            <a:br/>
            <a:r>
              <a:t>2. Perceptual Hash Match</a:t>
            </a:r>
            <a:br/>
            <a:r>
              <a:t>3. PIL Color Analysis</a:t>
            </a:r>
            <a:br/>
            <a:br/>
            <a:r>
              <a:t>Each returns structured JSON</a:t>
            </a:r>
            <a:br/>
            <a:r>
              <a:t>with confidence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206240"/>
            <a:ext cx="39319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📊 Output: Result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Dish Name: 锅包肉</a:t>
            </a:r>
            <a:br/>
            <a:r>
              <a:t>Category: Meat (肉类)</a:t>
            </a:r>
            <a:br/>
            <a:r>
              <a:t>Estimated Calories: 310 kcal</a:t>
            </a:r>
            <a:br/>
            <a:r>
              <a:t>Confidence: High (78%)</a:t>
            </a:r>
            <a:br/>
            <a:r>
              <a:t>Evidence: Golden-orange irregular</a:t>
            </a:r>
            <a:br/>
            <a:r>
              <a:t>pieces, glossy sauce coating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Iteration Log: v1.0 → v2.5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6 versions, 6 days — what we fixed and why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1945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A502"/>
                </a:solidFill>
              </a:defRPr>
            </a:pPr>
            <a:r>
              <a:t>v1.0</a:t>
            </a:r>
            <a:br/>
            <a:r>
              <a:t>Jun 10</a:t>
            </a:r>
            <a:br/>
            <a:r>
              <a:t>Night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274320" y="2834640"/>
            <a:ext cx="2194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New Features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Random AI generation</a:t>
            </a:r>
            <a:br/>
            <a:r>
              <a:t>❌ Fake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5029200"/>
            <a:ext cx="2194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6B6B"/>
                </a:solidFill>
              </a:defRPr>
            </a:pPr>
            <a:r>
              <a:t>Key Fix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User said 'This is fraud'</a:t>
            </a:r>
            <a:br/>
            <a:r>
              <a:t>→ Must change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14600" y="2286000"/>
            <a:ext cx="109728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51760" y="1371600"/>
            <a:ext cx="21945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A502"/>
                </a:solidFill>
              </a:defRPr>
            </a:pPr>
            <a:r>
              <a:t>v2.0</a:t>
            </a:r>
            <a:br/>
            <a:r>
              <a:t>Jun 11</a:t>
            </a:r>
            <a:br/>
            <a:r>
              <a:t>Morning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2651760" y="2834640"/>
            <a:ext cx="2194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New Features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Fixed dish library</a:t>
            </a:r>
            <a:br/>
            <a:r>
              <a:t>✅ Closed-set matching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5029200"/>
            <a:ext cx="2194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6B6B"/>
                </a:solidFill>
              </a:defRPr>
            </a:pPr>
            <a:r>
              <a:t>Key Fix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AI only matches 12</a:t>
            </a:r>
            <a:br/>
            <a:r>
              <a:t>known dishes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92040" y="2286000"/>
            <a:ext cx="109728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1371600"/>
            <a:ext cx="21945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A502"/>
                </a:solidFill>
              </a:defRPr>
            </a:pPr>
            <a:r>
              <a:t>v2.1→v2.3</a:t>
            </a:r>
            <a:br/>
            <a:r>
              <a:t>Jun 11-15</a:t>
            </a:r>
            <a:br/>
            <a:r>
              <a:t>Daytime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5029200" y="2834640"/>
            <a:ext cx="2194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New Features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Calorie tracking</a:t>
            </a:r>
            <a:br/>
            <a:r>
              <a:t>✅ Perceptual hash</a:t>
            </a:r>
            <a:br/>
            <a:r>
              <a:t>✅ Base64 storage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5029200"/>
            <a:ext cx="2194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6B6B"/>
                </a:solidFill>
              </a:defRPr>
            </a:pPr>
            <a:r>
              <a:t>Key Fix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Multi-feature fusion</a:t>
            </a:r>
            <a:br/>
            <a:r>
              <a:t>Images survive deploys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69480" y="2286000"/>
            <a:ext cx="109728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06640" y="1371600"/>
            <a:ext cx="21945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A502"/>
                </a:solidFill>
              </a:defRPr>
            </a:pPr>
            <a:r>
              <a:t>v2.4</a:t>
            </a:r>
            <a:br/>
            <a:r>
              <a:t>Jun 15</a:t>
            </a:r>
            <a:br/>
            <a:r>
              <a:t>Evening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7406640" y="2834640"/>
            <a:ext cx="2194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New Features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DeepSeek API</a:t>
            </a:r>
            <a:br/>
            <a:r>
              <a:t>✅ Demo mode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5029200"/>
            <a:ext cx="2194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6B6B"/>
                </a:solidFill>
              </a:defRPr>
            </a:pPr>
            <a:r>
              <a:t>Key Fix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Much higher accuracy</a:t>
            </a:r>
            <a:br/>
            <a:r>
              <a:t>Classroom-ready demo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46920" y="2286000"/>
            <a:ext cx="109728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84080" y="1371600"/>
            <a:ext cx="21945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A502"/>
                </a:solidFill>
              </a:defRPr>
            </a:pPr>
            <a:r>
              <a:t>v2.5</a:t>
            </a:r>
            <a:br/>
            <a:r>
              <a:t>Jun 15</a:t>
            </a:r>
            <a:br/>
            <a:r>
              <a:t>Night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9784080" y="2834640"/>
            <a:ext cx="2194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New Features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P1-P4 improvements</a:t>
            </a:r>
            <a:br/>
            <a:r>
              <a:t>✅ Allergy filter</a:t>
            </a:r>
            <a:br/>
            <a:r>
              <a:t>✅ Real scoring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5029200"/>
            <a:ext cx="2194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6B6B"/>
                </a:solidFill>
              </a:defRPr>
            </a:pPr>
            <a:r>
              <a:t>Key Fix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Vegans never get meat</a:t>
            </a:r>
            <a:br/>
            <a:r>
              <a:t>3 truly different combos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Evidence Summary: Proof of AI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All the receipts — prompts, code, API config, iteration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899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✅ Prompt Engineering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Custom prompts with role-setting, output formatting, and honesty constraints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7899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✅ API Configuration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DeepSeek Chat API: temperature=0.1, max_tokens=2000, OpenAI-compatible SDK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7899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✅ Code Implementation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DeepSeekVision class + custom perceptual hash + multi-feature SmartMatcher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107899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✅ Input-Output Pairs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Photo → JSON: dish name, category, calories, confidence — documented examples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7899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✅ Iteration History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v1.0 (random) → v2.5 (DeepSeek+P1-P4): 6 versions in 6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15000"/>
            <a:ext cx="107899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✅ Live Demo Ready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Fully functional web app at buffet-zero-waste-ai.onrender.com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6751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498DB"/>
                </a:solidFill>
              </a:defRPr>
            </a:pPr>
            <a:r>
              <a:t>🔗 GitHub: https://github.com/986867562zzh-hub/buffet-zero-waste-ai  |  Live: https://buffet-zero-waste-ai.onrender.com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Live Demo: Calorie Tracking (Steps 1-4)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🔥 Taking photos of 4 dishes → AI identifies each one → Calories accumulate → Progress ring fills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9418320" cy="4114800"/>
          </a:xfrm>
          <a:prstGeom prst="rect">
            <a:avLst/>
          </a:prstGeom>
          <a:solidFill>
            <a:srgbClr val="F8F9FA"/>
          </a:solidFill>
          <a:ln w="381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>
                <a:solidFill>
                  <a:srgbClr val="2D3436"/>
                </a:solidFill>
              </a:defRPr>
            </a:pPr>
            <a:r>
              <a:t>🎬 LIVE DEMO — Step 1</a:t>
            </a:r>
          </a:p>
          <a:p>
            <a:br/>
            <a:br/>
            <a:pPr algn="ctr">
              <a:defRPr sz="2000">
                <a:solidFill>
                  <a:srgbClr val="3498DB"/>
                </a:solidFill>
              </a:defRPr>
            </a:pPr>
            <a:r>
              <a:t>Open: https://buffet-zero-waste-ai.onrender.com/demo</a:t>
            </a:r>
          </a:p>
          <a:p>
            <a:br/>
            <a:pPr algn="ctr">
              <a:defRPr sz="1600">
                <a:solidFill>
                  <a:srgbClr val="95A5A6"/>
                </a:solidFill>
              </a:defRPr>
            </a:pPr>
            <a:r>
              <a:t>Presenter: [Team Member C]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Live Demo: Threshold Alert (Steps 5-8)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🐉 Calories reach 1800+ kcal → Cute cartoon character pops up → Gentle reminder to stop taking more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9418320" cy="4114800"/>
          </a:xfrm>
          <a:prstGeom prst="rect">
            <a:avLst/>
          </a:prstGeom>
          <a:solidFill>
            <a:srgbClr val="F8F9FA"/>
          </a:solidFill>
          <a:ln w="381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>
                <a:solidFill>
                  <a:srgbClr val="2D3436"/>
                </a:solidFill>
              </a:defRPr>
            </a:pPr>
            <a:r>
              <a:t>🎬 LIVE DEMO — Step 2</a:t>
            </a:r>
          </a:p>
          <a:p>
            <a:br/>
            <a:br/>
            <a:pPr algn="ctr">
              <a:defRPr sz="2000">
                <a:solidFill>
                  <a:srgbClr val="3498DB"/>
                </a:solidFill>
              </a:defRPr>
            </a:pPr>
            <a:r>
              <a:t>Open: https://buffet-zero-waste-ai.onrender.com/demo</a:t>
            </a:r>
          </a:p>
          <a:p>
            <a:br/>
            <a:pPr algn="ctr">
              <a:defRPr sz="1600">
                <a:solidFill>
                  <a:srgbClr val="95A5A6"/>
                </a:solidFill>
              </a:defRPr>
            </a:pPr>
            <a:r>
              <a:t>Presenter: [Team Member C]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Live Demo: Leftover Meal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🥘 Staff uploads buffet photos → AI identifies dishes → Select dietary type → Get 3 personalized combos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9418320" cy="4114800"/>
          </a:xfrm>
          <a:prstGeom prst="rect">
            <a:avLst/>
          </a:prstGeom>
          <a:solidFill>
            <a:srgbClr val="F8F9FA"/>
          </a:solidFill>
          <a:ln w="381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>
                <a:solidFill>
                  <a:srgbClr val="2D3436"/>
                </a:solidFill>
              </a:defRPr>
            </a:pPr>
            <a:r>
              <a:t>🎬 LIVE DEMO — Step 3</a:t>
            </a:r>
          </a:p>
          <a:p>
            <a:br/>
            <a:br/>
            <a:pPr algn="ctr">
              <a:defRPr sz="2000">
                <a:solidFill>
                  <a:srgbClr val="3498DB"/>
                </a:solidFill>
              </a:defRPr>
            </a:pPr>
            <a:r>
              <a:t>Open: https://buffet-zero-waste-ai.onrender.com/demo</a:t>
            </a:r>
          </a:p>
          <a:p>
            <a:br/>
            <a:pPr algn="ctr">
              <a:defRPr sz="1600">
                <a:solidFill>
                  <a:srgbClr val="95A5A6"/>
                </a:solidFill>
              </a:defRPr>
            </a:pPr>
            <a:r>
              <a:t>Presenter: [Team Member C]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Summary: What We Built &amp;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A practical AI solution for a real hospitality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6B6B"/>
                </a:solidFill>
              </a:defRPr>
            </a:pPr>
            <a:r>
              <a:t>🎯 The Problem We Solved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Buffet food waste: a measurable, daily problem</a:t>
            </a:r>
            <a:br/>
            <a:r>
              <a:t>• Two pain points: over-taking (consumer) + inventory (hotel)</a:t>
            </a:r>
            <a:br/>
            <a:r>
              <a:t>• Existing solutions: manual, slow, or non-existent</a:t>
            </a:r>
            <a:br/>
            <a:br/>
            <a:r>
              <a:t>Our approach: Make AI do the recognition work,</a:t>
            </a:r>
            <a:br/>
            <a:r>
              <a:t>then use behavioral design + economic incentives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3498DB"/>
                </a:solidFill>
              </a:defRPr>
            </a:pPr>
            <a:r>
              <a:t>💡 What Makes It Smart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Closed-set matching: AI only works with known dishes</a:t>
            </a:r>
            <a:br/>
            <a:r>
              <a:t>  → No hallucination, no fake results</a:t>
            </a:r>
            <a:br/>
            <a:r>
              <a:t>• Multi-layer engine: works with or without API key</a:t>
            </a:r>
            <a:br/>
            <a:r>
              <a:t>• Gentle behavioral intervention (not strict rules)</a:t>
            </a:r>
            <a:br/>
            <a:r>
              <a:t>• Real, working prototype — not just slides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📊 Measurable Impact (Projected)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30% reduction in consumer plate waste</a:t>
            </a:r>
            <a:br/>
            <a:r>
              <a:t>• 20% additional revenue from leftover meal combos</a:t>
            </a:r>
            <a:br/>
            <a:r>
              <a:t>• 15% increase in customer satisfaction (discounts + personalization)</a:t>
            </a:r>
            <a:br/>
            <a:r>
              <a:t>• Aligned with Macau's green hotel certification standards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393192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A502"/>
                </a:solidFill>
              </a:defRPr>
            </a:pPr>
            <a:r>
              <a:t>🛠️ Tech That Actually Works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DeepSeek Vision API — cheap, accurate, Chinese-fluent</a:t>
            </a:r>
            <a:br/>
            <a:r>
              <a:t>• Perceptual hash — custom algorithm, zero API cost</a:t>
            </a:r>
            <a:br/>
            <a:r>
              <a:t>• 12-dish reference library — base64 stored, never lost</a:t>
            </a:r>
            <a:br/>
            <a:r>
              <a:t>• 6 versions in 6 days — iterative, evidence-based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Roadmap &amp;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Where this project goes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3498DB"/>
                </a:solidFill>
              </a:defRPr>
            </a:pPr>
            <a:r>
              <a:t>🚀 Phase 2 (Next Month)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Expand dish library: 12 → 50 dishes</a:t>
            </a:r>
            <a:br/>
            <a:r>
              <a:t>• Multi-angle reference photos (3-5 per dish)</a:t>
            </a:r>
            <a:br/>
            <a:r>
              <a:t>• Train a custom image classification model</a:t>
            </a:r>
            <a:br/>
            <a:r>
              <a:t>• Mobile app (React Native)</a:t>
            </a:r>
            <a:br/>
            <a:r>
              <a:t>• QR code integration for easy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7160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FFA502"/>
                </a:solidFill>
              </a:defRPr>
            </a:pPr>
            <a:r>
              <a:t>🏨 Phase 3 (Semester 2)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Hotel PMS integration (Opera, OnQ)</a:t>
            </a:r>
            <a:br/>
            <a:r>
              <a:t>• Real-time kitchen display for staff</a:t>
            </a:r>
            <a:br/>
            <a:r>
              <a:t>• Dynamic pricing based on shelf life</a:t>
            </a:r>
            <a:br/>
            <a:r>
              <a:t>• Customer preference learning</a:t>
            </a:r>
            <a:br/>
            <a:r>
              <a:t>• A/B testing with partner hotel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37160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🌍 Long-term Vision</a:t>
            </a:r>
          </a:p>
          <a:p>
            <a:pPr>
              <a:lnSpc>
                <a:spcPts val="2200"/>
              </a:lnSpc>
              <a:defRPr sz="1400">
                <a:solidFill>
                  <a:srgbClr val="2D3436"/>
                </a:solidFill>
              </a:defRPr>
            </a:pPr>
            <a:r>
              <a:t>• Deploy in Macau integrated resorts</a:t>
            </a:r>
            <a:br/>
            <a:r>
              <a:t>• Multi-language support (CN/EN/PT/KR)</a:t>
            </a:r>
            <a:br/>
            <a:r>
              <a:t>• Carbon footprint tracking per dish</a:t>
            </a:r>
            <a:br/>
            <a:r>
              <a:t>• Open-source the dish library format</a:t>
            </a:r>
            <a:br/>
            <a:r>
              <a:t>• Publish findings in hospitality journal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10789920" cy="201168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FFA502"/>
                </a:solidFill>
              </a:defRPr>
            </a:pPr>
            <a:r>
              <a:t>Thank You! 🙏</a:t>
            </a:r>
          </a:p>
          <a:p>
            <a:br/>
            <a:pPr algn="ctr">
              <a:defRPr sz="2200">
                <a:solidFill>
                  <a:srgbClr val="FFFFFF"/>
                </a:solidFill>
              </a:defRPr>
            </a:pPr>
            <a:r>
              <a:t>Questions &amp; Discussion</a:t>
            </a:r>
          </a:p>
          <a:p>
            <a:pPr algn="ctr">
              <a:defRPr sz="1300">
                <a:solidFill>
                  <a:srgbClr val="95A5A6"/>
                </a:solidFill>
              </a:defRPr>
            </a:pPr>
            <a:r>
              <a:t>🔗 GitHub: github.com/986867562zzh-hub/buffet-zero-waste-ai  |  🌐 Live: buffet-zero-waste-ai.onrender.com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